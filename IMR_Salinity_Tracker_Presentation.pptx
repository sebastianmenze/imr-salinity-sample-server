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07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IMR Salinity Sample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A new digital labeling workflow for salinity sample collection,
measurement, and upload to PhysChem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</a:rPr>
              <a:t>Institute of Marine Research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Old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200">
                <a:solidFill>
                  <a:srgbClr val="2D3748"/>
                </a:solidFill>
              </a:rPr>
              <a:t>❌  Paper logbooks — easy to lose, hard to read</a:t>
            </a:r>
          </a:p>
          <a:p>
            <a:pPr algn="l">
              <a:spcBef>
                <a:spcPts val="400"/>
              </a:spcBef>
            </a:pPr>
            <a:r>
              <a:rPr sz="2200">
                <a:solidFill>
                  <a:srgbClr val="2D3748"/>
                </a:solidFill>
              </a:rPr>
              <a:t>❌  Manual lookup in spreadsheets to match samples with CTD data</a:t>
            </a:r>
          </a:p>
          <a:p>
            <a:pPr algn="l">
              <a:spcBef>
                <a:spcPts val="400"/>
              </a:spcBef>
            </a:pPr>
            <a:r>
              <a:rPr sz="2200">
                <a:solidFill>
                  <a:srgbClr val="2D3748"/>
                </a:solidFill>
              </a:rPr>
              <a:t>❌  Transcription errors when entering values into PhysChem</a:t>
            </a:r>
          </a:p>
          <a:p>
            <a:pPr algn="l">
              <a:spcBef>
                <a:spcPts val="400"/>
              </a:spcBef>
            </a:pPr>
            <a:r>
              <a:rPr sz="2200">
                <a:solidFill>
                  <a:srgbClr val="2D3748"/>
                </a:solidFill>
              </a:rPr>
              <a:t>❌  No clear link between the physical bottle and the database entry</a:t>
            </a:r>
          </a:p>
          <a:p>
            <a:pPr algn="l">
              <a:spcBef>
                <a:spcPts val="400"/>
              </a:spcBef>
            </a:pPr>
            <a:r>
              <a:rPr sz="2200">
                <a:solidFill>
                  <a:srgbClr val="2D3748"/>
                </a:solidFill>
              </a:rPr>
              <a:t>❌  Time-consuming — one person re-entering data from logbooks in the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New Workflow — 3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12801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D3748"/>
                </a:solidFill>
              </a:rPr>
              <a:t>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</a:rPr>
              <a:t>On the 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D3748"/>
                </a:solidFill>
              </a:rPr>
              <a:t>Upload BTL file (or manual entry)
→ System registers sample
→ Print QR label
→ Stick label on bottle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30175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7AA5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2801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D3748"/>
                </a:solidFill>
              </a:rPr>
              <a:t>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</a:rPr>
              <a:t>In the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D3748"/>
                </a:solidFill>
              </a:rPr>
              <a:t>Scan QR code on label
→ Measurement page opens instantly
→ Enter PSAL_LAB value
→ Click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0175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7AA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88720"/>
            <a:ext cx="356616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12801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D3748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148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</a:rPr>
              <a:t>In PhysChem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6974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D3748"/>
                </a:solidFill>
              </a:rPr>
              <a:t>Value uploaded automatically
→ Correct mission, cast &amp; bottle
→ matched by time, position &amp; depth
→ View confirmation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68580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</a:rPr>
              <a:t>IMR Salinity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</a:rPr>
              <a:t>G.O. Sars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396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</a:rPr>
              <a:t>2025-06-12  14:32 UTC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237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</a:rPr>
              <a:t>69.2341°N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0779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</a:rPr>
              <a:t>18.4521°E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3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Depth:  250.0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7588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Bottle: 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59935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</a:rPr>
              <a:t>Cruise:  2025707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43983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</a:rPr>
              <a:t>a3f9c12e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71600"/>
            <a:ext cx="3017520" cy="3017520"/>
          </a:xfrm>
          <a:prstGeom prst="rect">
            <a:avLst/>
          </a:prstGeom>
          <a:solidFill>
            <a:srgbClr val="EEEEEE"/>
          </a:solidFill>
          <a:ln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560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AAAAA"/>
                </a:solidFill>
              </a:rPr>
              <a:t>QR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434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3748"/>
                </a:solidFill>
              </a:rPr>
              <a:t>a3f9c12e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8096"/>
                </a:solidFill>
              </a:rPr>
              <a:t>50 × 30 mm
Phomemo M110 printer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3716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2D3748"/>
                </a:solidFill>
              </a:rPr>
              <a:t>✔  Vessel, time, position, depth — printed clearly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3748"/>
                </a:solidFill>
              </a:rPr>
              <a:t>✔  Bottle &amp; depth in bold — easy to read on deck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3748"/>
                </a:solidFill>
              </a:rPr>
              <a:t>✔  QR code → opens lab measurement page directly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3748"/>
                </a:solidFill>
              </a:rPr>
              <a:t>✔  8-character ID — short, unique, scannable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In the Lab — Measurement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1.  Scan QR code → measurement page opens (browser, phone, tablet, scanner)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2.  Page shows:   sample metadata  |  CTD sensor PSAL values from PhysChem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3.  Enter PSAL_LAB value  →  Upload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4.  System finds matching mission / operation / bottle automatically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5.  Success page shows confirmation + link to PhysChem entry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Token:  paste a 1-hour PhysChem token once per session — button stays
          disabled until token is active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Replicates:  scan again → 'Add Additional Measurement'
                  → new ordinal, original never overwritten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566160" cy="2148840"/>
          </a:xfrm>
          <a:prstGeom prst="rect">
            <a:avLst/>
          </a:prstGeom>
          <a:solidFill>
            <a:srgbClr val="002852"/>
          </a:solidFill>
          <a:ln>
            <a:solidFill>
              <a:srgbClr val="007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⚡ 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</a:rPr>
              <a:t>BTL file upload registers
an entire CTD cast in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2544" y="1234440"/>
            <a:ext cx="3566160" cy="2148840"/>
          </a:xfrm>
          <a:prstGeom prst="rect">
            <a:avLst/>
          </a:prstGeom>
          <a:solidFill>
            <a:srgbClr val="002852"/>
          </a:solidFill>
          <a:ln>
            <a:solidFill>
              <a:srgbClr val="007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🔗  Traceable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187451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</a:rPr>
              <a:t>Every bottle linked by QR code
from deck to PhysChem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7888" y="1234440"/>
            <a:ext cx="3566160" cy="2148840"/>
          </a:xfrm>
          <a:prstGeom prst="rect">
            <a:avLst/>
          </a:prstGeom>
          <a:solidFill>
            <a:srgbClr val="002852"/>
          </a:solidFill>
          <a:ln>
            <a:solidFill>
              <a:srgbClr val="007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7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🛡️  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7" y="187451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</a:rPr>
              <a:t>No overwrites — replicates get
new ordinals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3566160" cy="2148840"/>
          </a:xfrm>
          <a:prstGeom prst="rect">
            <a:avLst/>
          </a:prstGeom>
          <a:solidFill>
            <a:srgbClr val="002852"/>
          </a:solidFill>
          <a:ln>
            <a:solidFill>
              <a:srgbClr val="007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📊 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7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</a:rPr>
              <a:t>CSV export with all measurements,
ordinals &amp; PhysChem IDs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2544" y="3657600"/>
            <a:ext cx="3566160" cy="2148840"/>
          </a:xfrm>
          <a:prstGeom prst="rect">
            <a:avLst/>
          </a:prstGeom>
          <a:solidFill>
            <a:srgbClr val="002852"/>
          </a:solidFill>
          <a:ln>
            <a:solidFill>
              <a:srgbClr val="007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37490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🌐  Accessible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29767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</a:rPr>
              <a:t>Works on any browser —
phone, tablet, PC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3657600"/>
            <a:ext cx="3566160" cy="2148840"/>
          </a:xfrm>
          <a:prstGeom prst="rect">
            <a:avLst/>
          </a:prstGeom>
          <a:solidFill>
            <a:srgbClr val="002852"/>
          </a:solidFill>
          <a:ln>
            <a:solidFill>
              <a:srgbClr val="007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7" y="37490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🔍  Auditable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429767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</a:rPr>
              <a:t>All samples visible at /samples
with status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Browser   →   http://nautilus.imr.no:8000   (IMR network only)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On the ship: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   •  Home page  →  drag &amp; drop BTL file  →  select bottles  →  register  →  print labels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   •  Stick label on dry bottle before leaving the CTD deck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In the lab: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   •  Get a PhysChem token from  https://physchem-token-test.hi.no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   •  Scan QR  →  enter value  →  upload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2D3748"/>
                </a:solidFill>
              </a:rPr>
              <a:t>Questions / issues:   sebastian.menze@imr.no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